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64" r:id="rId4"/>
    <p:sldId id="267" r:id="rId5"/>
    <p:sldId id="261" r:id="rId6"/>
    <p:sldId id="268" r:id="rId7"/>
    <p:sldId id="269" r:id="rId8"/>
    <p:sldId id="27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794"/>
  </p:normalViewPr>
  <p:slideViewPr>
    <p:cSldViewPr snapToGrid="0" snapToObjects="1">
      <p:cViewPr varScale="1">
        <p:scale>
          <a:sx n="100" d="100"/>
          <a:sy n="100" d="100"/>
        </p:scale>
        <p:origin x="1116" y="90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3333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90849"/>
            <a:ext cx="6400800" cy="175260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학번</a:t>
            </a:r>
            <a:r>
              <a:rPr lang="en-US" altLang="ko-KR"/>
              <a:t>: 2019012825</a:t>
            </a:r>
            <a:endParaRPr lang="en-US" altLang="ko-KR"/>
          </a:p>
          <a:p>
            <a:pPr lvl="0">
              <a:defRPr/>
            </a:pPr>
            <a:r>
              <a:rPr/>
              <a:t>이름: </a:t>
            </a:r>
            <a:r>
              <a:rPr lang="ko-KR" altLang="en-US"/>
              <a:t>한승완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담당교수님</a:t>
            </a:r>
            <a:r>
              <a:rPr lang="en-US" altLang="ko-KR"/>
              <a:t>: </a:t>
            </a:r>
            <a:r>
              <a:rPr lang="ko-KR" altLang="en-US"/>
              <a:t>임동균 교수님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37926" y="511314"/>
            <a:ext cx="4068147" cy="696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/>
              <a:t>SU2 </a:t>
            </a:r>
            <a:r>
              <a:rPr lang="ko-KR" altLang="en-US" sz="4000"/>
              <a:t>보고서 </a:t>
            </a:r>
            <a:r>
              <a:rPr lang="en-US" altLang="ko-KR" sz="4000"/>
              <a:t>8</a:t>
            </a:r>
            <a:r>
              <a:rPr lang="ko-KR" altLang="en-US" sz="4000"/>
              <a:t>주차</a:t>
            </a:r>
            <a:endParaRPr lang="ko-KR" altLang="en-US" sz="40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6E360DB-8EE3-42B5-93B2-F00D68D92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734" y="5181600"/>
            <a:ext cx="1505160" cy="14765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가로 글상자 3"/>
          <p:cNvSpPr txBox="1"/>
          <p:nvPr/>
        </p:nvSpPr>
        <p:spPr>
          <a:xfrm>
            <a:off x="2349499" y="768350"/>
            <a:ext cx="914400" cy="914400"/>
          </a:xfrm>
          <a:prstGeom prst="rect">
            <a:avLst/>
          </a:prstGeom>
        </p:spPr>
        <p:txBody>
          <a:bodyPr wrap="none"/>
          <a:p>
            <a:pPr lvl="0">
              <a:defRPr/>
            </a:pPr>
            <a:endParaRPr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r="33190"/>
          <a:stretch>
            <a:fillRect/>
          </a:stretch>
        </p:blipFill>
        <p:spPr>
          <a:xfrm>
            <a:off x="5583493" y="370518"/>
            <a:ext cx="3341462" cy="3058481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583493" y="3858576"/>
            <a:ext cx="3341462" cy="2573572"/>
          </a:xfrm>
          <a:prstGeom prst="rect">
            <a:avLst/>
          </a:prstGeom>
        </p:spPr>
      </p:pic>
      <p:sp>
        <p:nvSpPr>
          <p:cNvPr id="15" name="가로 글상자 14"/>
          <p:cNvSpPr txBox="1"/>
          <p:nvPr/>
        </p:nvSpPr>
        <p:spPr>
          <a:xfrm>
            <a:off x="6831714" y="3429000"/>
            <a:ext cx="2093242" cy="33147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600"/>
              <a:t>해석결과 </a:t>
            </a:r>
            <a:r>
              <a:rPr lang="en-US" altLang="ko-KR" sz="1600"/>
              <a:t>[wire frame]</a:t>
            </a:r>
            <a:endParaRPr lang="en-US" altLang="ko-KR" sz="1600"/>
          </a:p>
        </p:txBody>
      </p:sp>
      <p:sp>
        <p:nvSpPr>
          <p:cNvPr id="16" name="가로 글상자 15"/>
          <p:cNvSpPr txBox="1"/>
          <p:nvPr/>
        </p:nvSpPr>
        <p:spPr>
          <a:xfrm>
            <a:off x="6377614" y="6432149"/>
            <a:ext cx="2547342" cy="338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/>
              <a:t>해석결과</a:t>
            </a:r>
            <a:r>
              <a:rPr lang="en-US" altLang="ko-KR" sz="1600"/>
              <a:t> </a:t>
            </a:r>
            <a:r>
              <a:rPr lang="ko-KR" altLang="en-US" sz="1600"/>
              <a:t>확대 </a:t>
            </a:r>
            <a:r>
              <a:rPr lang="en-US" altLang="ko-KR" sz="1600"/>
              <a:t>[wire frame]</a:t>
            </a:r>
            <a:endParaRPr lang="en-US" altLang="ko-KR" sz="1600"/>
          </a:p>
        </p:txBody>
      </p:sp>
      <p:sp>
        <p:nvSpPr>
          <p:cNvPr id="17" name="TextBox 3"/>
          <p:cNvSpPr txBox="1"/>
          <p:nvPr/>
        </p:nvSpPr>
        <p:spPr>
          <a:xfrm>
            <a:off x="0" y="123820"/>
            <a:ext cx="1650189" cy="493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700" b="1"/>
              <a:t>격자 조건</a:t>
            </a:r>
            <a:endParaRPr lang="ko-KR" altLang="en-US" sz="2700" b="1"/>
          </a:p>
        </p:txBody>
      </p:sp>
      <p:sp>
        <p:nvSpPr>
          <p:cNvPr id="20" name="직사각형 19"/>
          <p:cNvSpPr/>
          <p:nvPr/>
        </p:nvSpPr>
        <p:spPr>
          <a:xfrm>
            <a:off x="0" y="850750"/>
            <a:ext cx="2925194" cy="575050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Mesh Definition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NDIME :3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NELEM :43008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Physical Governing Equations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SOLVER :RANS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KIND_TURB_MODEL :SA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Compressible Free-Stream Conditions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MACH_NUMBER :0.8372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AOA :6.06°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REYNOLDS_NUMBER :11.71E6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REYNOLDS_LENGTH :0.64607 m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Numerical Method Parameters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Gradient Method :GREEN_GAUSS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CFL_NUMBER :100.</a:t>
            </a:r>
            <a:r>
              <a:rPr xmlns:mc="http://schemas.openxmlformats.org/markup-compatibility/2006" xmlns:hp="http://schemas.haansoft.com/office/presentation/8.0" lang="en-US" altLang="ko-KR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0</a:t>
            </a:r>
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Multigrid Parameters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MGCYCLE :V_CYCLE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MG_PRE_SMOOTH :(1, 1, 1, 1)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MG_POST_SMOOTH :(0, 0, 0, 0)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MG_CORRECTION_SMOOTH :(0, 0, 0, 0)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Flow Numerical Method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CONV_NUM_METHOD_FLOW :JST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JST_SENSOR_COEFF :(0.5, 0.02)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TIME_DISCRE_FLOW :EULER_IMPLICIT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2228115043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2587" y="3506658"/>
            <a:ext cx="4572000" cy="2186952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626396" y="3149261"/>
            <a:ext cx="3395772" cy="2901747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489475" y="0"/>
            <a:ext cx="8165050" cy="242465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◆ 해석 결과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압력 분포는0.3~1.6 범위로 나타나며, 상면에서</a:t>
            </a:r>
            <a:r>
              <a:rPr xmlns:mc="http://schemas.openxmlformats.org/markup-compatibility/2006" xmlns:hp="http://schemas.haansoft.com/office/presentation/8.0" lang="ko-KR" altLang="en-US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뚜렷한저압(suction) 영역이 형성됨.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Leading edge 인근에서 압력이급감하고,</a:t>
            </a:r>
            <a:r>
              <a:rPr xmlns:mc="http://schemas.openxmlformats.org/markup-compatibility/2006" xmlns:hp="http://schemas.haansoft.com/office/presentation/8.0" lang="ko-KR" altLang="en-US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중간코드에서 shock에 의한 압력 급상승이 확인됨.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Shock 위치는 스팬 방향으로 이동하며,root에서는 앞쪽,tip 방향으로 갈수록 뒤쪽으로 형성되는 전형적인 ONERA M6 패턴을 보임.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전체 압력 분포 형태는 고속 조건(M≈0.84, AOA=6°)에서 보고된 실험/참고 해석과유사한 경향을 보임.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2757303968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6547169" y="736599"/>
            <a:ext cx="622299" cy="380999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/>
          </a:p>
        </p:txBody>
      </p:sp>
      <p:sp>
        <p:nvSpPr>
          <p:cNvPr id="15" name="직사각형 14"/>
          <p:cNvSpPr/>
          <p:nvPr/>
        </p:nvSpPr>
        <p:spPr>
          <a:xfrm>
            <a:off x="6236019" y="5270500"/>
            <a:ext cx="622299" cy="380999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35" name="직사각형 34"/>
          <p:cNvSpPr/>
          <p:nvPr/>
        </p:nvSpPr>
        <p:spPr>
          <a:xfrm>
            <a:off x="3280409" y="0"/>
            <a:ext cx="2583180" cy="3600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800" b="1" u="sng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Cp 분포 해석 결과</a:t>
            </a:r>
            <a:endParaRPr xmlns:mc="http://schemas.openxmlformats.org/markup-compatibility/2006" xmlns:hp="http://schemas.haansoft.com/office/presentation/8.0" lang="en-US" altLang="ko-KR" sz="1800" b="1" u="sng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0" y="284757"/>
            <a:ext cx="5095121" cy="62884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◆ Section 20%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i="0" u="sng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원인</a:t>
            </a:r>
            <a:endParaRPr xmlns:mc="http://schemas.openxmlformats.org/markup-compatibility/2006" xmlns:hp="http://schemas.haansoft.com/office/presentation/8.0" lang="en-US" altLang="ko-KR" sz="110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Root에 가까워 3차원 효과가 거의 없는 quasi-2D 유동 형성</a:t>
            </a:r>
            <a:endParaRPr xmlns:mc="http://schemas.openxmlformats.org/markup-compatibility/2006" xmlns:hp="http://schemas.haansoft.com/office/presentation/8.0" sz="110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난류 경계층이 안정적이며 SA 모델의 한계가 거의 드러나지 않는 영역</a:t>
            </a:r>
            <a:endParaRPr xmlns:mc="http://schemas.openxmlformats.org/markup-compatibility/2006" xmlns:hp="http://schemas.haansoft.com/office/presentation/8.0" sz="110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Shock 발생 전 구간으로 수치점성 영향이 매우 작음</a:t>
            </a:r>
            <a:endParaRPr xmlns:mc="http://schemas.openxmlformats.org/markup-compatibility/2006" xmlns:hp="http://schemas.haansoft.com/office/presentation/8.0" sz="110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i="0" u="sng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결과</a:t>
            </a:r>
            <a:endParaRPr xmlns:mc="http://schemas.openxmlformats.org/markup-compatibility/2006" xmlns:hp="http://schemas.haansoft.com/office/presentation/8.0" sz="110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Leading edge suction peak가 실험과 거의 동일하게 재현됨</a:t>
            </a:r>
            <a:endParaRPr xmlns:mc="http://schemas.openxmlformats.org/markup-compatibility/2006" xmlns:hp="http://schemas.haansoft.com/office/presentation/8.0" sz="110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Shock 이전의 압력 분포가 매우 잘 맞음</a:t>
            </a:r>
            <a:endParaRPr xmlns:mc="http://schemas.openxmlformats.org/markup-compatibility/2006" xmlns:hp="http://schemas.haansoft.com/office/presentation/8.0" sz="110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후연부 압력 회복만 약간 완만하게 예측되나 전체 오차는 매우 작음</a:t>
            </a:r>
            <a:endParaRPr xmlns:mc="http://schemas.openxmlformats.org/markup-compatibility/2006" xmlns:hp="http://schemas.haansoft.com/office/presentation/8.0" sz="110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Section 44%</a:t>
            </a:r>
            <a:endParaRPr xmlns:mc="http://schemas.openxmlformats.org/markup-compatibility/2006" xmlns:hp="http://schemas.haansoft.com/office/presentation/8.0" sz="1500" b="1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500" b="1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u="sng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원인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ONERA M6 shock가 가장 강하게 형성되는 대표 단면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Shock–boundary layer 상호작용으로 난류모델 민감도가 커지는 구간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JST 인공점성이 shock 주변에서 강하게 작용해 shock를 앞쪽으로 이동시키는 경향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격자 해상도와 모델링 영향이 본격적으로 드러나는 위치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u="sng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결과</a:t>
            </a:r>
            <a:endParaRPr xmlns:mc="http://schemas.openxmlformats.org/markup-compatibility/2006" xmlns:hp="http://schemas.haansoft.com/office/presentation/8.0" sz="1100" b="0" i="0" u="sng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Shock 위치가 실험보다 앞쪽에서 나타남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Shock 강도가 실험보다 크게 예측되는 경향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Shock 이후 Cp가 더 높게 형성되어 압력 회복이 과대 예측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Suction peak와 shock 전 구간은 실험과 높은 일치도 유지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440530" y="775297"/>
            <a:ext cx="3703469" cy="530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991322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14415" y="699706"/>
            <a:ext cx="3829584" cy="545858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32587" y="540377"/>
            <a:ext cx="4097655" cy="577724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1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■ Section 65%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u="sng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원인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스팬 증가로 3차원성 증가, shock footprint가 뒤로 이동하는 구간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실험에서는 shock 약화가 시작되지만 SA 모델은 이 감쇠를 충분히 반영하지 못함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Shock 강도가 유지되면 위치가 앞쪽으로 bias되는 경향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Mesh resolution 영향이 midspan보다 크게 반영되는 영역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u="sng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결과</a:t>
            </a:r>
            <a:endParaRPr xmlns:mc="http://schemas.openxmlformats.org/markup-compatibility/2006" xmlns:hp="http://schemas.haansoft.com/office/presentation/8.0" sz="1100" b="0" i="0" u="sng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Shock 위치가 실험보다 앞쪽에서 유지됨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Shock 강도가 완전히 약해지지 않아 압력 불연속이 실험보다 큼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Shock 이후 Cp가 전체적으로 상향 편향됨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전반적 패턴은 실험과 유사하나 오차가 분명해지는 구간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5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◆ Section 80%</a:t>
            </a: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100" b="0" i="0" u="sng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원인</a:t>
            </a:r>
            <a:endParaRPr xmlns:mc="http://schemas.openxmlformats.org/markup-compatibility/2006" xmlns:hp="http://schemas.haansoft.com/office/presentation/8.0" lang="en-US" altLang="ko-KR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Tip 방향 3차원 유동이 나타나기 시작하는 구간</a:t>
            </a:r>
            <a:endParaRPr xmlns:mc="http://schemas.openxmlformats.org/markup-compatibility/2006" xmlns:hp="http://schemas.haansoft.com/office/presentation/8.0" lang="en-US" altLang="ko-KR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실험에서는 shock가 약해지고 뒤쪽으로 이동하는 영역</a:t>
            </a:r>
            <a:endParaRPr xmlns:mc="http://schemas.openxmlformats.org/markup-compatibility/2006" xmlns:hp="http://schemas.haansoft.com/office/presentation/8.0" lang="en-US" altLang="ko-KR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SA 모델과 JST 수치점성이 shock 약화 현상을 충분히 반영하지 못함</a:t>
            </a:r>
            <a:endParaRPr xmlns:mc="http://schemas.openxmlformats.org/markup-compatibility/2006" xmlns:hp="http://schemas.haansoft.com/office/presentation/8.0" lang="en-US" altLang="ko-KR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Tip 근처 격자 해상도가 midspan보다 낮아 shock 예측이 보수적으로 형성됨</a:t>
            </a:r>
            <a:endParaRPr xmlns:mc="http://schemas.openxmlformats.org/markup-compatibility/2006" xmlns:hp="http://schemas.haansoft.com/office/presentation/8.0" lang="en-US" altLang="ko-KR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lang="en-US" altLang="ko-KR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ko-KR" altLang="en-US" sz="1100" b="0" i="0" u="sng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lang="en-US" altLang="ko-KR" sz="1100" b="0" i="0" u="sng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결과</a:t>
            </a:r>
            <a:endParaRPr xmlns:mc="http://schemas.openxmlformats.org/markup-compatibility/2006" xmlns:hp="http://schemas.haansoft.com/office/presentation/8.0" lang="en-US" altLang="ko-KR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SU2 shock 위치가 실험보다 앞쪽에 머무름</a:t>
            </a:r>
            <a:endParaRPr xmlns:mc="http://schemas.openxmlformats.org/markup-compatibility/2006" xmlns:hp="http://schemas.haansoft.com/office/presentation/8.0" lang="en-US" altLang="ko-KR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Shock 강도가 실험보다 강하게 유지됨</a:t>
            </a:r>
            <a:endParaRPr xmlns:mc="http://schemas.openxmlformats.org/markup-compatibility/2006" xmlns:hp="http://schemas.haansoft.com/office/presentation/8.0" lang="en-US" altLang="ko-KR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Shock 이후 압력 회복이 빠르게 예측되어 Cp가 실험보다 높게 형성됨</a:t>
            </a:r>
            <a:endParaRPr xmlns:mc="http://schemas.openxmlformats.org/markup-compatibility/2006" xmlns:hp="http://schemas.haansoft.com/office/presentation/8.0" lang="en-US" altLang="ko-KR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상부면 오차 증가가 시작되는 지점</a:t>
            </a:r>
            <a:endParaRPr xmlns:mc="http://schemas.openxmlformats.org/markup-compatibility/2006" xmlns:hp="http://schemas.haansoft.com/office/presentation/8.0" lang="en-US" altLang="ko-KR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3644532610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957976"/>
            <a:ext cx="4631055" cy="494204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◆ Section 90%</a:t>
            </a:r>
            <a:endParaRPr xmlns:mc="http://schemas.openxmlformats.org/markup-compatibility/2006" xmlns:hp="http://schemas.haansoft.com/office/presentation/8.0" sz="1500" b="1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500" b="1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u="sng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원인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Tip vortex 영향으로 상부면 유동이 강하게 휘어지고 압력장이 크게 변화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실험에서는 shock가 급격히 약해지거나 퍼지는 형태로 존재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RANS-SA는 tip 근처 3D 유동과 shock 감쇠 재현 능력이 제한적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Shock foot 이동이 복잡해 수치민감도 증가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u="sng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결과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SU2는 shock가 거의 소멸되지 않고 강하게 남아 있음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Shock 위치가 실험보다 계속 앞쪽에 유지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Shock 이후 Cp가 실험보다 높게 나타나 압력 회복 과대 경향 유지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Lower surface는 매우 정확해 상부 shock 예측만 문제로 남음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◆ Section 96%</a:t>
            </a:r>
            <a:endParaRPr xmlns:mc="http://schemas.openxmlformats.org/markup-compatibility/2006" xmlns:hp="http://schemas.haansoft.com/office/presentation/8.0" sz="1500" b="1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u="sng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원인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Tip vortex 영향이 최대화된 구간으로 실험에서는 shock의 형태가 거의 사라짐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SA 모델과 JST 점성항이 shock 제거 과정을 충분히 표현하지 못함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Tip 근처 mesh skew, stretching 등이 shock 예측 정확도에 영향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3D 유도속도가 강하지만 RANS는 이를 과소모사하는 경향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u="sng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결과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SU2는 shock 잔류가 여전히 크게 남아 실험과 가장 다른 패턴 형성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압력 불연속이 실험보다 강하고 shock 경계가 선명하게 유지됨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Shock 이후 Cp가 지속적으로 높게 형성되는 경향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상부면 오차가 크게 증가하는 대표 단면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166602" y="747338"/>
            <a:ext cx="3839110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82973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478889"/>
            <a:ext cx="4907281" cy="39002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◆ Section 99%</a:t>
            </a:r>
            <a:endParaRPr xmlns:mc="http://schemas.openxmlformats.org/markup-compatibility/2006" xmlns:hp="http://schemas.haansoft.com/office/presentation/8.0" sz="1500" b="1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500" b="1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u="sng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원인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Tip 끝단 바로 근접한 위치로 vortex core 영향이 사실상 직접 작용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실험에서는 압력 변화가 매우 완만하며 shock 형태가 완전히 소멸하는 영역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SA + JST는 이러한 극단적 3D 비정상 압력장을 정확히 재현하기 어려움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Tip 부근 격자 정렬 문제로 수치점성 영향이 더 크게 작용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u="sng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결과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SU2는 shock 형태가 남아 있어 실험과 가장 큰 차이를 보이는 단면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Shock 위치가 앞쪽에서 고정되고 강도도 감소되지 않음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Cp가 상부면에서 전체적으로 위쪽으로 편향된 형태 유지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1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Lower surface는 계속 정확하지만 상부 shock modeling 한계가 지배적인 오차 원인</a:t>
            </a:r>
            <a:endParaRPr xmlns:mc="http://schemas.openxmlformats.org/markup-compatibility/2006" xmlns:hp="http://schemas.haansoft.com/office/presentation/8.0" sz="11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064324" y="2085787"/>
            <a:ext cx="3858163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63086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>
        <a:defPPr lvl="0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578</ep:Words>
  <ep:PresentationFormat>화면 슬라이드 쇼(4:3)</ep:PresentationFormat>
  <ep:Paragraphs>156</ep:Paragraphs>
  <ep:Slides>7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creator>Cju</dc:creator>
  <dc:description>generated using python-pptx</dc:description>
  <cp:lastModifiedBy>PC</cp:lastModifiedBy>
  <dcterms:modified xsi:type="dcterms:W3CDTF">2025-12-03T13:51:40.127</dcterms:modified>
  <cp:revision>118</cp:revision>
  <dc:title>3D Wing CFD Simulation Report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