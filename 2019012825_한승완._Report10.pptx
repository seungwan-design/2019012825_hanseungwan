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76" r:id="rId4"/>
    <p:sldId id="267" r:id="rId5"/>
    <p:sldId id="274" r:id="rId6"/>
    <p:sldId id="261" r:id="rId7"/>
    <p:sldId id="275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/>
    <p:restoredTop sz="94794"/>
  </p:normalViewPr>
  <p:slideViewPr>
    <p:cSldViewPr snapToGrid="0" snapToObjects="1">
      <p:cViewPr varScale="1">
        <p:scale>
          <a:sx n="100" d="100"/>
          <a:sy n="100" d="100"/>
        </p:scale>
        <p:origin x="1116" y="90"/>
      </p:cViewPr>
      <p:guideLst>
        <p:guide orient="horz" pos="2158"/>
        <p:guide pos="2878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viewProps" Target="viewProps.xml"  /><Relationship Id="rId11" Type="http://schemas.openxmlformats.org/officeDocument/2006/relationships/theme" Target="theme/theme1.xml"  /><Relationship Id="rId12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presProps" Target="presProp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33332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4.png"  /><Relationship Id="rId3" Type="http://schemas.openxmlformats.org/officeDocument/2006/relationships/image" Target="../media/image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2.xml"  /><Relationship Id="rId2" Type="http://schemas.openxmlformats.org/officeDocument/2006/relationships/image" Target="../media/image6.png"  /><Relationship Id="rId3" Type="http://schemas.openxmlformats.org/officeDocument/2006/relationships/image" Target="../media/image7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90849"/>
            <a:ext cx="6400800" cy="1752600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학번</a:t>
            </a:r>
            <a:r>
              <a:rPr lang="en-US" altLang="ko-KR"/>
              <a:t>: 2019012825</a:t>
            </a:r>
            <a:endParaRPr lang="en-US" altLang="ko-KR"/>
          </a:p>
          <a:p>
            <a:pPr lvl="0">
              <a:defRPr/>
            </a:pPr>
            <a:r>
              <a:rPr/>
              <a:t>이름: </a:t>
            </a:r>
            <a:r>
              <a:rPr lang="ko-KR" altLang="en-US"/>
              <a:t>한승완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담당교수님</a:t>
            </a:r>
            <a:r>
              <a:rPr lang="en-US" altLang="ko-KR"/>
              <a:t>: </a:t>
            </a:r>
            <a:r>
              <a:rPr lang="ko-KR" altLang="en-US"/>
              <a:t>임동균 교수님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537926" y="511314"/>
            <a:ext cx="4322884" cy="696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/>
              <a:t>SU2 </a:t>
            </a:r>
            <a:r>
              <a:rPr lang="ko-KR" altLang="en-US" sz="4000"/>
              <a:t>보고서 </a:t>
            </a:r>
            <a:r>
              <a:rPr lang="en-US" altLang="ko-KR" sz="4000"/>
              <a:t>10</a:t>
            </a:r>
            <a:r>
              <a:rPr lang="ko-KR" altLang="en-US" sz="4000"/>
              <a:t>주차</a:t>
            </a:r>
            <a:endParaRPr lang="ko-KR" altLang="en-US" sz="400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6E360DB-8EE3-42B5-93B2-F00D68D92B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734" y="5181600"/>
            <a:ext cx="1505160" cy="1476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950776" y="1118865"/>
            <a:ext cx="6077798" cy="4620269"/>
          </a:xfrm>
          <a:prstGeom prst="rect">
            <a:avLst/>
          </a:prstGeom>
        </p:spPr>
      </p:pic>
      <p:sp>
        <p:nvSpPr>
          <p:cNvPr id="5" name="가로 글상자 4"/>
          <p:cNvSpPr txBox="1"/>
          <p:nvPr/>
        </p:nvSpPr>
        <p:spPr>
          <a:xfrm>
            <a:off x="1219332" y="255845"/>
            <a:ext cx="6705335" cy="638264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/>
              <a:t>Unconstrained shape design of a transonic inviscid airfoil at a cte. AoA</a:t>
            </a:r>
            <a:endParaRPr/>
          </a:p>
          <a:p>
            <a:pPr lvl="0">
              <a:defRPr/>
            </a:pPr>
            <a:endParaRPr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29183" y="2230282"/>
            <a:ext cx="2300720" cy="239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843552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919563" y="2143143"/>
            <a:ext cx="4224437" cy="2947193"/>
          </a:xfrm>
          <a:prstGeom prst="rect">
            <a:avLst/>
          </a:prstGeom>
        </p:spPr>
      </p:pic>
      <p:sp>
        <p:nvSpPr>
          <p:cNvPr id="24" name="가로 글상자 23"/>
          <p:cNvSpPr txBox="1"/>
          <p:nvPr/>
        </p:nvSpPr>
        <p:spPr>
          <a:xfrm>
            <a:off x="8066608" y="5090336"/>
            <a:ext cx="1077392" cy="26384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200"/>
              <a:t>Fig.1 SU2</a:t>
            </a:r>
            <a:endParaRPr lang="en-US" altLang="ko-KR" sz="1200"/>
          </a:p>
        </p:txBody>
      </p:sp>
      <p:sp>
        <p:nvSpPr>
          <p:cNvPr id="26" name="직사각형 25"/>
          <p:cNvSpPr/>
          <p:nvPr/>
        </p:nvSpPr>
        <p:spPr>
          <a:xfrm>
            <a:off x="0" y="830599"/>
            <a:ext cx="5228029" cy="483675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800" b="1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◆ 해석 결과</a:t>
            </a: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8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Leading-edge suction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Optimized 에어포일이 NACA 0012보다 더 강한 초기 가속을 보이며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상부면 suction peak가 더 깊게 형성됨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초기 양력 생성 능력 향상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중간 구간 압력 분포 (0.1 &lt; x/c &lt; 0.5)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Optimized는 NACA 0012보다 압력 분포가 완만하며 plateau 구간이 형성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압력 기울기 감소로 유동 분리 위험 감소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안정적인 부착 유동 유지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Shock 위치 및 강도 (약 x/c ≈ 0.55~0.6)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NACA 0012는 강하고 급격한 shock 발생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Optimized는 shock 강도가 낮고 shock 위치가 약간 뒤로 이동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고속 영역에서 파형 저항(drag due to shock) 감소 효과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후연부 압력 회복 (0.6 &lt; x/c &lt; 1.0)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Optimized는 압력 회복이 NACA 0012보다 다소 완만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압력 회복 과정에서 유동 안정성이 높음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후연부 손실 감소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• 하부면 압력 분포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두 에어포일 모두 유사하지만 Optimized는 약간 높은 압력을 유지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  <a:p>
            <a:pPr lvl="0" algn="l">
              <a:defRPr/>
            </a:pPr>
            <a:r>
              <a:rPr xmlns:mc="http://schemas.openxmlformats.org/markup-compatibility/2006" xmlns:hp="http://schemas.haansoft.com/office/presentation/8.0" sz="1200" b="0" i="0" strike="noStrike" mc:Ignorable="hp" hp:hslEmbossed="0">
                <a:solidFill>
                  <a:srgbClr val="000000">
                    <a:alpha val="100000"/>
                  </a:srgbClr>
                </a:solidFill>
                <a:latin typeface="Arial"/>
                <a:ea typeface="굴림"/>
              </a:rPr>
              <a:t>→ 전체적인 양력 계수 증가에 기여</a:t>
            </a:r>
            <a:endParaRPr xmlns:mc="http://schemas.openxmlformats.org/markup-compatibility/2006" xmlns:hp="http://schemas.haansoft.com/office/presentation/8.0" sz="1200" b="0" i="0" strike="noStrike" mc:Ignorable="hp" hp:hslEmbossed="0">
              <a:solidFill>
                <a:srgbClr val="000000">
                  <a:alpha val="100000"/>
                </a:srgbClr>
              </a:solidFill>
              <a:latin typeface="Arial"/>
              <a:ea typeface="굴림"/>
            </a:endParaRPr>
          </a:p>
        </p:txBody>
      </p:sp>
    </p:spTree>
    <p:extLst>
      <p:ext uri="{BB962C8B-B14F-4D97-AF65-F5344CB8AC3E}">
        <p14:creationId xmlns:p14="http://schemas.microsoft.com/office/powerpoint/2010/main" val="2757303968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그림 2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427578" y="836225"/>
            <a:ext cx="3716422" cy="2592775"/>
          </a:xfrm>
          <a:prstGeom prst="rect">
            <a:avLst/>
          </a:prstGeom>
        </p:spPr>
      </p:pic>
      <p:pic>
        <p:nvPicPr>
          <p:cNvPr id="23" name="그림 22"/>
          <p:cNvPicPr>
            <a:picLocks noChangeAspect="1"/>
          </p:cNvPicPr>
          <p:nvPr/>
        </p:nvPicPr>
        <p:blipFill rotWithShape="1">
          <a:blip r:embed="rId3"/>
          <a:srcRect l="10730"/>
          <a:stretch>
            <a:fillRect/>
          </a:stretch>
        </p:blipFill>
        <p:spPr>
          <a:xfrm>
            <a:off x="4919565" y="3621485"/>
            <a:ext cx="4224435" cy="3236514"/>
          </a:xfrm>
          <a:prstGeom prst="rect">
            <a:avLst/>
          </a:prstGeom>
        </p:spPr>
      </p:pic>
      <p:sp>
        <p:nvSpPr>
          <p:cNvPr id="24" name="가로 글상자 23"/>
          <p:cNvSpPr txBox="1"/>
          <p:nvPr/>
        </p:nvSpPr>
        <p:spPr>
          <a:xfrm>
            <a:off x="8066608" y="3297078"/>
            <a:ext cx="1077392" cy="263843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sz="1200"/>
              <a:t>Fig.2 SU2</a:t>
            </a:r>
            <a:endParaRPr lang="en-US" altLang="ko-KR" sz="1200"/>
          </a:p>
        </p:txBody>
      </p:sp>
      <p:sp>
        <p:nvSpPr>
          <p:cNvPr id="25" name="가로 글상자 24"/>
          <p:cNvSpPr txBox="1"/>
          <p:nvPr/>
        </p:nvSpPr>
        <p:spPr>
          <a:xfrm>
            <a:off x="8310269" y="6368415"/>
            <a:ext cx="833731" cy="489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300" b="1"/>
              <a:t>Fig.3 SU2 Tutorials</a:t>
            </a:r>
            <a:endParaRPr lang="en-US" altLang="ko-KR" sz="1300" b="1"/>
          </a:p>
        </p:txBody>
      </p:sp>
      <p:sp>
        <p:nvSpPr>
          <p:cNvPr id="29" name="가로 글상자 28"/>
          <p:cNvSpPr txBox="1"/>
          <p:nvPr/>
        </p:nvSpPr>
        <p:spPr>
          <a:xfrm>
            <a:off x="0" y="1238290"/>
            <a:ext cx="5160112" cy="4766390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sz="1700" b="1"/>
              <a:t>직접 해석 결과와 SU2 튜토리얼 결과 비교</a:t>
            </a:r>
            <a:endParaRPr sz="1400"/>
          </a:p>
          <a:p>
            <a:pPr lvl="0">
              <a:defRPr/>
            </a:pPr>
            <a:endParaRPr sz="1400"/>
          </a:p>
          <a:p>
            <a:pPr lvl="0">
              <a:defRPr/>
            </a:pPr>
            <a:r>
              <a:rPr sz="1200"/>
              <a:t>직접 수행한 최적화 결과와 SU2 튜토리얼의 Cp 분포는 전체적인 경향은 유사하지만, 상부면 압력 분포에서 뚜렷한 차이가 나타난다.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먼저, 직접 해석에서는 Optimized 에어포일의 leading-edge suction peak가 더 깊게 형성되었다. 이는 전연 곡률 또는 캠버 변화가 더 크게 적용되어 초기 양력 증가 효과가 강조된 최적화 결과임을 의미한다. 반면 SU2 튜토리얼 결과는 suction을 상대적으로 완만하게 유지하며 보다 안정적인 압력 분포를 보인다.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중간 영역(x/c 0.1~0.5)에서도 차이가 나타난다. </a:t>
            </a:r>
            <a:endParaRPr sz="1200"/>
          </a:p>
          <a:p>
            <a:pPr lvl="0">
              <a:defRPr/>
            </a:pPr>
            <a:r>
              <a:rPr sz="1200"/>
              <a:t>직접 해석은 압력 plateau가 전체적으로 더 낮은 위치에서 형성되어 압력 기울기가 줄어들고 양력 증가 효과가 더 크게 나타난다. </a:t>
            </a:r>
            <a:endParaRPr sz="1200"/>
          </a:p>
          <a:p>
            <a:pPr lvl="0">
              <a:defRPr/>
            </a:pPr>
            <a:r>
              <a:rPr sz="1200"/>
              <a:t>SU2 튜토리얼의 plateau는 보다 완만하여 보수적인 최적화 경향을 보여준다.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Shock 영역에서도 두 결과는 다른 특징을 가진다. </a:t>
            </a:r>
            <a:endParaRPr sz="1200"/>
          </a:p>
          <a:p>
            <a:pPr lvl="0">
              <a:defRPr/>
            </a:pPr>
            <a:r>
              <a:rPr sz="1200"/>
              <a:t>튜토리얼에서는 shock가 약해지고 뒤쪽으로 이동하는 것이 명확하지만, </a:t>
            </a:r>
            <a:endParaRPr sz="1200"/>
          </a:p>
          <a:p>
            <a:pPr lvl="0">
              <a:defRPr/>
            </a:pPr>
            <a:r>
              <a:rPr sz="1200"/>
              <a:t>직접 해석에서는 shock가 비교적 강하고 발생 위치도 앞쪽에 형성된다.</a:t>
            </a:r>
            <a:endParaRPr sz="1200"/>
          </a:p>
          <a:p>
            <a:pPr lvl="0">
              <a:defRPr/>
            </a:pPr>
            <a:r>
              <a:rPr sz="1200"/>
              <a:t> 이는 해석 설정 및 최적화 변수 차이가 반영된 결과이며, </a:t>
            </a:r>
            <a:endParaRPr sz="1200"/>
          </a:p>
          <a:p>
            <a:pPr lvl="0">
              <a:defRPr/>
            </a:pPr>
            <a:r>
              <a:rPr sz="1200"/>
              <a:t>직접 해석이 suction 강화와 양력 증대를 더 우선시한 형태임을 의미한다.</a:t>
            </a:r>
            <a:endParaRPr sz="1200"/>
          </a:p>
          <a:p>
            <a:pPr lvl="0">
              <a:defRPr/>
            </a:pPr>
            <a:endParaRPr sz="1200"/>
          </a:p>
          <a:p>
            <a:pPr lvl="0">
              <a:defRPr/>
            </a:pPr>
            <a:r>
              <a:rPr sz="1200"/>
              <a:t>종합적으로, 직접 수행한 최적화는 양력 증가 성향이 더 강한 “공격적 최적화” 결과이며, SU2 튜토리얼은 shock 완화와 안정성을 중시한 “보수적 최적화” 결과로 정리할 수 있다.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263909362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6547169" y="736599"/>
            <a:ext cx="622299" cy="38099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15" name="직사각형 14"/>
          <p:cNvSpPr/>
          <p:nvPr/>
        </p:nvSpPr>
        <p:spPr>
          <a:xfrm>
            <a:off x="6236019" y="5270500"/>
            <a:ext cx="622299" cy="38099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>
              <a:defRPr/>
            </a:pPr>
            <a:endParaRPr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198912" y="1534605"/>
            <a:ext cx="3945088" cy="3417941"/>
          </a:xfrm>
          <a:prstGeom prst="rect">
            <a:avLst/>
          </a:prstGeom>
        </p:spPr>
      </p:pic>
      <p:sp>
        <p:nvSpPr>
          <p:cNvPr id="42" name="가로 글상자 41"/>
          <p:cNvSpPr txBox="1"/>
          <p:nvPr/>
        </p:nvSpPr>
        <p:spPr>
          <a:xfrm>
            <a:off x="8127526" y="5087302"/>
            <a:ext cx="1016474" cy="366395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fig.4 Su2</a:t>
            </a:r>
            <a:endParaRPr lang="en-US" altLang="ko-KR"/>
          </a:p>
        </p:txBody>
      </p:sp>
      <p:sp>
        <p:nvSpPr>
          <p:cNvPr id="45" name="가로 글상자 44"/>
          <p:cNvSpPr txBox="1"/>
          <p:nvPr/>
        </p:nvSpPr>
        <p:spPr>
          <a:xfrm>
            <a:off x="0" y="1346871"/>
            <a:ext cx="5250225" cy="3793409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b="1"/>
              <a:t>◆ Drag Optimization 수렴 해석 결과</a:t>
            </a:r>
            <a:endParaRPr/>
          </a:p>
          <a:p>
            <a:pPr lvl="0">
              <a:defRPr/>
            </a:pPr>
            <a:endParaRPr sz="1500"/>
          </a:p>
          <a:p>
            <a:pPr lvl="0">
              <a:defRPr/>
            </a:pPr>
            <a:r>
              <a:rPr sz="1400"/>
              <a:t>위 그래프는 최적화 과정에서 Drag 값이 평가(iteration)마다 어떻게 감소하는지를 보여준다. 초기 Drag는 약 0.022 수준으로 시작하지만, 첫 3~5회 평가에서 급격하게 감소하여 전체 Drag의 대부분이 빠르게 줄어든다. 이는 설계변수의 초기 변형이 Drag 민감도가 높은 구간을 효과적으로 탐색했음을 의미한다.</a:t>
            </a:r>
            <a:endParaRPr sz="1400"/>
          </a:p>
          <a:p>
            <a:pPr lvl="0">
              <a:defRPr/>
            </a:pPr>
            <a:endParaRPr sz="1400"/>
          </a:p>
          <a:p>
            <a:pPr lvl="0">
              <a:defRPr/>
            </a:pPr>
            <a:r>
              <a:rPr sz="1400"/>
              <a:t>이후 평가 횟수가 증가함에 따라 Drag 감소율은 점차 완만해지며, 약 10회 이후부터는 값이 안정적으로 수렴하는 형태를 보인다. 최종 Drag는 약 0.001 수준에서 유지되며 추가 평가에서도 큰 변화가 나타나지 않는다. 이는 최적화 알고리즘이 충분히 안정된 최소값 근처에 도달했음을 확인시켜준다.</a:t>
            </a:r>
            <a:endParaRPr sz="1400"/>
          </a:p>
          <a:p>
            <a:pPr lvl="0">
              <a:defRPr/>
            </a:pPr>
            <a:endParaRPr sz="1400"/>
          </a:p>
          <a:p>
            <a:pPr lvl="0">
              <a:defRPr/>
            </a:pPr>
            <a:r>
              <a:rPr sz="1400"/>
              <a:t>결론적으로, 본 최적화 과정은 빠른 초기 개선과 안정적인 후반 수렴 특성을 모두 만족하며, Drag 최소화 목적을 성공적으로 달성한 것으로 판단된다.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167991322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6547169" y="736599"/>
            <a:ext cx="622299" cy="38099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p>
            <a:pPr lvl="0">
              <a:defRPr/>
            </a:pPr>
            <a:endParaRPr/>
          </a:p>
        </p:txBody>
      </p:sp>
      <p:sp>
        <p:nvSpPr>
          <p:cNvPr id="15" name="직사각형 14"/>
          <p:cNvSpPr/>
          <p:nvPr/>
        </p:nvSpPr>
        <p:spPr>
          <a:xfrm>
            <a:off x="6236019" y="5270500"/>
            <a:ext cx="622299" cy="380999"/>
          </a:xfrm>
          <a:prstGeom prst="rect">
            <a:avLst/>
          </a:prstGeom>
          <a:solidFill>
            <a:schemeClr val="lt1"/>
          </a:solidFill>
          <a:ln>
            <a:solidFill>
              <a:schemeClr val="lt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lvl="0">
              <a:defRPr/>
            </a:pPr>
            <a:endParaRPr/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5531289" y="927098"/>
            <a:ext cx="3612711" cy="2631575"/>
          </a:xfrm>
          <a:prstGeom prst="rect">
            <a:avLst/>
          </a:prstGeom>
        </p:spPr>
      </p:pic>
      <p:sp>
        <p:nvSpPr>
          <p:cNvPr id="42" name="가로 글상자 41"/>
          <p:cNvSpPr txBox="1"/>
          <p:nvPr/>
        </p:nvSpPr>
        <p:spPr>
          <a:xfrm>
            <a:off x="7955586" y="3429000"/>
            <a:ext cx="1013153" cy="365583"/>
          </a:xfrm>
          <a:prstGeom prst="rect">
            <a:avLst/>
          </a:prstGeom>
        </p:spPr>
        <p:txBody>
          <a:bodyPr wrap="none">
            <a:spAutoFit/>
          </a:bodyPr>
          <a:p>
            <a:pPr lvl="0">
              <a:defRPr/>
            </a:pPr>
            <a:r>
              <a:rPr lang="en-US" altLang="ko-KR"/>
              <a:t>fig.5 Su2</a:t>
            </a:r>
            <a:endParaRPr lang="en-US" altLang="ko-KR"/>
          </a:p>
        </p:txBody>
      </p:sp>
      <p:pic>
        <p:nvPicPr>
          <p:cNvPr id="43" name="그림 42"/>
          <p:cNvPicPr>
            <a:picLocks noChangeAspect="1"/>
          </p:cNvPicPr>
          <p:nvPr/>
        </p:nvPicPr>
        <p:blipFill rotWithShape="1">
          <a:blip r:embed="rId3"/>
          <a:srcRect t="6360" r="4690"/>
          <a:stretch>
            <a:fillRect/>
          </a:stretch>
        </p:blipFill>
        <p:spPr>
          <a:xfrm>
            <a:off x="5538297" y="3794583"/>
            <a:ext cx="3436424" cy="2691395"/>
          </a:xfrm>
          <a:prstGeom prst="rect">
            <a:avLst/>
          </a:prstGeom>
        </p:spPr>
      </p:pic>
      <p:sp>
        <p:nvSpPr>
          <p:cNvPr id="44" name="가로 글상자 43"/>
          <p:cNvSpPr txBox="1"/>
          <p:nvPr/>
        </p:nvSpPr>
        <p:spPr>
          <a:xfrm>
            <a:off x="8310270" y="6368415"/>
            <a:ext cx="833730" cy="489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300" b="1"/>
              <a:t>Fig.6 SU2 Tutorials</a:t>
            </a:r>
            <a:endParaRPr lang="en-US" altLang="ko-KR" sz="1300" b="1"/>
          </a:p>
        </p:txBody>
      </p:sp>
      <p:sp>
        <p:nvSpPr>
          <p:cNvPr id="46" name="가로 글상자 45"/>
          <p:cNvSpPr txBox="1"/>
          <p:nvPr/>
        </p:nvSpPr>
        <p:spPr>
          <a:xfrm>
            <a:off x="0" y="1406409"/>
            <a:ext cx="5388272" cy="4045181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b="1"/>
              <a:t>◆ Drag 수렴 비교: 직접 해석</a:t>
            </a:r>
            <a:r>
              <a:rPr lang="ko-KR" altLang="en-US" b="1"/>
              <a:t> 결과와 </a:t>
            </a:r>
            <a:r>
              <a:rPr b="1"/>
              <a:t>SU2 튜토리얼</a:t>
            </a:r>
            <a:endParaRPr b="1"/>
          </a:p>
          <a:p>
            <a:pPr lvl="0">
              <a:defRPr/>
            </a:pPr>
            <a:endParaRPr/>
          </a:p>
          <a:p>
            <a:pPr lvl="0">
              <a:defRPr/>
            </a:pPr>
            <a:r>
              <a:rPr sz="1400"/>
              <a:t>SU2 튜토리얼의 Drag 수렴 그래프와 직접 수행한 해석 결과는 전반적인 경향이 매우 유사하다. 두 경우 모두 초기 Drag가 약 0.02 수준에서 시작해 3~5회 평가 동안 급격히 감소하며, 이후 거의 0에 가까운 값으로 수렴한다.</a:t>
            </a:r>
            <a:endParaRPr sz="1400"/>
          </a:p>
          <a:p>
            <a:pPr lvl="0">
              <a:defRPr/>
            </a:pPr>
            <a:endParaRPr sz="1400"/>
          </a:p>
          <a:p>
            <a:pPr lvl="0">
              <a:defRPr/>
            </a:pPr>
            <a:r>
              <a:rPr sz="1400"/>
              <a:t>차이점은 수렴 속도와 Drag의 잔차 수준에서 나타난다. 너의 해석에서는 4~5회 평가 이후 Drag가 매우 작은 값으로 안정되며, 이후 변화 폭도 거의 없는 형태를 보인다. 반면 튜토리얼 그래프는 5회 이후의 감소가 조금 더 완만하게 이어지며 최종 수렴 값도 약간 높은 수준에서 유지된다.</a:t>
            </a:r>
            <a:endParaRPr sz="1400"/>
          </a:p>
          <a:p>
            <a:pPr lvl="0">
              <a:defRPr/>
            </a:pPr>
            <a:endParaRPr sz="1400"/>
          </a:p>
          <a:p>
            <a:pPr lvl="0">
              <a:defRPr/>
            </a:pPr>
            <a:r>
              <a:rPr sz="1400"/>
              <a:t>이 차이는 격자 구조, 설계변수 범위, 초기 형상 등이 서로 다르기 때문에 발생할 수 있는 정상적인 차이이다. 종합적으로, 너의 최적화가 튜토리얼보다 더 빠르고 더 낮은 Drag 수준으로 수렴하는 결과를 보여주며, 초기 설계변경이 Drag 감소에 매우 효과적으로 작용했음을 의미한다.</a:t>
            </a:r>
            <a:endParaRPr sz="1400"/>
          </a:p>
        </p:txBody>
      </p:sp>
    </p:spTree>
    <p:extLst>
      <p:ext uri="{BB962C8B-B14F-4D97-AF65-F5344CB8AC3E}">
        <p14:creationId xmlns:p14="http://schemas.microsoft.com/office/powerpoint/2010/main" val="3563565889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>
        <a:defPPr lvl="0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528</ep:Words>
  <ep:PresentationFormat>화면 슬라이드 쇼(4:3)</ep:PresentationFormat>
  <ep:Paragraphs>72</ep:Paragraphs>
  <ep:Slides>6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ep:HeadingPairs>
  <ep:TitlesOfParts>
    <vt:vector size="7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2013-01-27T09:14:16.000</dcterms:created>
  <dc:creator>Cju</dc:creator>
  <dc:description>generated using python-pptx</dc:description>
  <cp:lastModifiedBy>PC</cp:lastModifiedBy>
  <dcterms:modified xsi:type="dcterms:W3CDTF">2025-12-03T19:36:19.362</dcterms:modified>
  <cp:revision>135</cp:revision>
  <dc:title>3D Wing CFD Simulation Report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