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76" r:id="rId4"/>
    <p:sldId id="267" r:id="rId5"/>
    <p:sldId id="261" r:id="rId6"/>
    <p:sldId id="274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794"/>
  </p:normalViewPr>
  <p:slideViewPr>
    <p:cSldViewPr snapToGrid="0" snapToObjects="1">
      <p:cViewPr varScale="1">
        <p:scale>
          <a:sx n="100" d="100"/>
          <a:sy n="100" d="100"/>
        </p:scale>
        <p:origin x="1116" y="90"/>
      </p:cViewPr>
      <p:guideLst>
        <p:guide orient="horz" pos="2157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3333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90849"/>
            <a:ext cx="6400800" cy="17526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학번</a:t>
            </a:r>
            <a:r>
              <a:rPr lang="en-US" altLang="ko-KR"/>
              <a:t>: 2019012825</a:t>
            </a:r>
            <a:endParaRPr lang="en-US" altLang="ko-KR"/>
          </a:p>
          <a:p>
            <a:pPr lvl="0">
              <a:defRPr/>
            </a:pPr>
            <a:r>
              <a:rPr/>
              <a:t>이름: </a:t>
            </a:r>
            <a:r>
              <a:rPr lang="ko-KR" altLang="en-US"/>
              <a:t>한승완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담당교수님</a:t>
            </a:r>
            <a:r>
              <a:rPr lang="en-US" altLang="ko-KR"/>
              <a:t>: </a:t>
            </a:r>
            <a:r>
              <a:rPr lang="ko-KR" altLang="en-US"/>
              <a:t>임동균 교수님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37926" y="511314"/>
            <a:ext cx="4322884" cy="1553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/>
              <a:t>SU2 </a:t>
            </a:r>
            <a:r>
              <a:rPr lang="ko-KR" altLang="en-US" sz="4000"/>
              <a:t>보고서 </a:t>
            </a:r>
            <a:r>
              <a:rPr lang="en-US" altLang="ko-KR" sz="4000"/>
              <a:t>11</a:t>
            </a:r>
            <a:r>
              <a:rPr lang="ko-KR" altLang="en-US" sz="4000"/>
              <a:t>주차</a:t>
            </a:r>
            <a:endParaRPr lang="ko-KR" altLang="en-US" sz="4000"/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2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2DN44: 2D NACA 4412 에어포일 후단 분리</a:t>
            </a:r>
            <a:endParaRPr lang="ko-KR" altLang="en-US" sz="28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E360DB-8EE3-42B5-93B2-F00D68D92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734" y="5181600"/>
            <a:ext cx="1505160" cy="14765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0" y="1400940"/>
            <a:ext cx="4572000" cy="4056119"/>
          </a:xfrm>
          <a:prstGeom prst="rect">
            <a:avLst/>
          </a:prstGeom>
        </p:spPr>
      </p:pic>
      <p:sp>
        <p:nvSpPr>
          <p:cNvPr id="9" name="가로 글상자 8"/>
          <p:cNvSpPr txBox="1"/>
          <p:nvPr/>
        </p:nvSpPr>
        <p:spPr>
          <a:xfrm>
            <a:off x="0" y="1263015"/>
            <a:ext cx="4090937" cy="433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500" b="1" u="sng"/>
              <a:t>NASA </a:t>
            </a:r>
            <a:r>
              <a:rPr sz="1500" b="1" u="sng"/>
              <a:t>연구 개요 및 사례 설명</a:t>
            </a:r>
            <a:endParaRPr sz="1500" b="1" u="sng"/>
          </a:p>
          <a:p>
            <a:pPr lvl="0">
              <a:defRPr/>
            </a:pPr>
            <a:endParaRPr sz="1100"/>
          </a:p>
          <a:p>
            <a:pPr lvl="0">
              <a:defRPr/>
            </a:pPr>
            <a:r>
              <a:rPr sz="1100"/>
              <a:t>본 연구는 난류 모델의 물리 재현 능력 검증을 목적으로 한다. 단순한 코드 검증과 달리, 난류 모델이 실제 유동 현상을 얼마나 정확히 모사하는지를 판단하기 위해 CFD 해석 결과를 실험 데이터와 직접 비교한다.</a:t>
            </a:r>
            <a:endParaRPr sz="1100"/>
          </a:p>
          <a:p>
            <a:pPr lvl="0">
              <a:defRPr/>
            </a:pPr>
            <a:endParaRPr sz="1100"/>
          </a:p>
          <a:p>
            <a:pPr lvl="0">
              <a:defRPr/>
            </a:pPr>
            <a:r>
              <a:rPr sz="1100"/>
              <a:t>검증 대상은 NACA 4412 에어포일(Coles &amp; Wadcock 실험) 의 상부 후연 분리(tail separation) 현상이다. 해당 사례는 오랜 기간 CFD 분야에서 널리 사용된 대표적 난류 모델 검증 문제이며, 다양한 격자 세트와 비교 데이터가 함께 제공된다.</a:t>
            </a:r>
            <a:endParaRPr sz="1100"/>
          </a:p>
          <a:p>
            <a:pPr lvl="0">
              <a:defRPr/>
            </a:pPr>
            <a:endParaRPr sz="1100"/>
          </a:p>
          <a:p>
            <a:pPr lvl="0">
              <a:defRPr/>
            </a:pPr>
            <a:r>
              <a:rPr sz="1100"/>
              <a:t>실험은 명목상 2D 조건에서 수행되었다. 후연을 정확히 폐합시키기 위해 NACA4412 두께 분포식의 0.1015x⁴ 항을 0.1036x⁴로 변경하여 미세한 형상 수정이 이루어졌으며, CFD에서는 이 수정된 형상을 사용한다. 실험 레이놀즈 수는 Re = 1.52 × 10⁶(코드 길이 기준)이고, 공격각은 **13.87°**이다. 상부·하부 경계층은 실험에서 트립(strip) 처리되었지만, CFD는 완전 난류 조건으로 계산한다.</a:t>
            </a:r>
            <a:endParaRPr sz="1100"/>
          </a:p>
          <a:p>
            <a:pPr lvl="0">
              <a:defRPr/>
            </a:pPr>
            <a:endParaRPr sz="1100"/>
          </a:p>
          <a:p>
            <a:pPr lvl="0">
              <a:defRPr/>
            </a:pPr>
            <a:r>
              <a:rPr sz="1100"/>
              <a:t>실험은 작은 풍동에서 수행된 반면, CFD는 원거리 외부 경계를 매우 크게 설정하여(코드 길이의 100배) 해석한다. 이 차이로 인해 실험 대비 CFD의 정확한 일치에는 불확실성이 존재하며, 이 사례는 문헌상 널리 알려졌지만 본질적으로 결과 민감성이 높은 검증 문제라는 점을 고려해야 한다.</a:t>
            </a:r>
            <a:endParaRPr/>
          </a:p>
        </p:txBody>
      </p:sp>
      <p:sp>
        <p:nvSpPr>
          <p:cNvPr id="10" name="가로 글상자 9"/>
          <p:cNvSpPr txBox="1"/>
          <p:nvPr/>
        </p:nvSpPr>
        <p:spPr>
          <a:xfrm>
            <a:off x="7910559" y="5594985"/>
            <a:ext cx="248556" cy="36576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endParaRPr lang="en-US" altLang="ko-KR"/>
          </a:p>
        </p:txBody>
      </p:sp>
      <p:sp>
        <p:nvSpPr>
          <p:cNvPr id="11" name="가로 글상자 10"/>
          <p:cNvSpPr txBox="1"/>
          <p:nvPr/>
        </p:nvSpPr>
        <p:spPr>
          <a:xfrm>
            <a:off x="6652290" y="5329807"/>
            <a:ext cx="2116483" cy="2651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/>
              <a:t>Fig.1 Boundary Condition plot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1038435528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가로 글상자 23"/>
          <p:cNvSpPr txBox="1"/>
          <p:nvPr/>
        </p:nvSpPr>
        <p:spPr>
          <a:xfrm>
            <a:off x="7845320" y="4542785"/>
            <a:ext cx="1298680" cy="27033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200"/>
              <a:t>Fig.2</a:t>
            </a:r>
            <a:r>
              <a:rPr lang="ko-KR" altLang="en-US" sz="1200"/>
              <a:t> </a:t>
            </a:r>
            <a:r>
              <a:rPr lang="en-US" altLang="ko-KR" sz="1200"/>
              <a:t>Wireframe</a:t>
            </a:r>
            <a:endParaRPr lang="en-US" altLang="ko-KR" sz="120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21472" y="1501302"/>
            <a:ext cx="4168588" cy="3041483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0" y="1065844"/>
            <a:ext cx="3905809" cy="37472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General Settings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SOLVER= RANS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MATH_PROBLEM= DIRECT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TURBULENCE MODEL= Spalart–Allmaras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RESTART_SOL= NO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MACH_NUMBER= 0.09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AOA= 13.87°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REYNOLDS_NUMBER= 1.52 × 10⁶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REF_LENGTH= 1.0 (chord)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Boundary Conditions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MARKER_HEATFLUX= (Wall, 0.0)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MARKER_FAR= (Inlet, Outlet)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MARKER_SYM= (Symmetry)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MARKER_PLOTTING= (Wall)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MARKER_MONITORING= (Wall)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0" y="0"/>
            <a:ext cx="1846831" cy="572194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3200"/>
              <a:t>격자조건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2757303968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6547169" y="736599"/>
            <a:ext cx="622299" cy="380999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15" name="직사각형 14"/>
          <p:cNvSpPr/>
          <p:nvPr/>
        </p:nvSpPr>
        <p:spPr>
          <a:xfrm>
            <a:off x="6236019" y="5270500"/>
            <a:ext cx="622299" cy="380999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lvl="0">
              <a:defRPr/>
            </a:pPr>
            <a:endParaRPr/>
          </a:p>
        </p:txBody>
      </p:sp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39138" y="736599"/>
            <a:ext cx="3620142" cy="2548083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81118" y="4054354"/>
            <a:ext cx="4362881" cy="2357963"/>
          </a:xfrm>
          <a:prstGeom prst="rect">
            <a:avLst/>
          </a:prstGeom>
        </p:spPr>
      </p:pic>
      <p:cxnSp>
        <p:nvCxnSpPr>
          <p:cNvPr id="49" name="화살표 48"/>
          <p:cNvCxnSpPr/>
          <p:nvPr/>
        </p:nvCxnSpPr>
        <p:spPr>
          <a:xfrm>
            <a:off x="6383770" y="4414713"/>
            <a:ext cx="795457" cy="139507"/>
          </a:xfrm>
          <a:prstGeom prst="straightConnector1">
            <a:avLst/>
          </a:prstGeom>
          <a:ln>
            <a:solidFill>
              <a:schemeClr val="lt1"/>
            </a:solidFill>
            <a:headEnd w="med" len="med"/>
            <a:tailEnd type="arrow" w="med" len="med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50" name="화살표 49"/>
          <p:cNvCxnSpPr/>
          <p:nvPr/>
        </p:nvCxnSpPr>
        <p:spPr>
          <a:xfrm>
            <a:off x="7597502" y="4554220"/>
            <a:ext cx="950222" cy="0"/>
          </a:xfrm>
          <a:prstGeom prst="straightConnector1">
            <a:avLst/>
          </a:prstGeom>
          <a:ln>
            <a:solidFill>
              <a:schemeClr val="lt1"/>
            </a:solidFill>
            <a:headEnd w="med" len="med"/>
            <a:tailEnd type="arrow" w="med" len="med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51" name="화살표 50"/>
          <p:cNvCxnSpPr/>
          <p:nvPr/>
        </p:nvCxnSpPr>
        <p:spPr>
          <a:xfrm rot="10800000">
            <a:off x="6353429" y="4921558"/>
            <a:ext cx="816039" cy="227830"/>
          </a:xfrm>
          <a:prstGeom prst="straightConnector1">
            <a:avLst/>
          </a:prstGeom>
          <a:ln>
            <a:solidFill>
              <a:schemeClr val="lt1"/>
            </a:solidFill>
            <a:headEnd w="med" len="med"/>
            <a:tailEnd type="arrow" w="med" len="med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52" name="화살표 51"/>
          <p:cNvCxnSpPr/>
          <p:nvPr/>
        </p:nvCxnSpPr>
        <p:spPr>
          <a:xfrm rot="10800000">
            <a:off x="5104039" y="4693728"/>
            <a:ext cx="816039" cy="227830"/>
          </a:xfrm>
          <a:prstGeom prst="straightConnector1">
            <a:avLst/>
          </a:prstGeom>
          <a:ln>
            <a:solidFill>
              <a:schemeClr val="lt1"/>
            </a:solidFill>
            <a:headEnd w="med" len="med"/>
            <a:tailEnd type="arrow" w="med" len="med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53" name="화살표 52"/>
          <p:cNvCxnSpPr/>
          <p:nvPr/>
        </p:nvCxnSpPr>
        <p:spPr>
          <a:xfrm rot="10800000" flipV="1">
            <a:off x="7721728" y="5092431"/>
            <a:ext cx="1037552" cy="113914"/>
          </a:xfrm>
          <a:prstGeom prst="straightConnector1">
            <a:avLst/>
          </a:prstGeom>
          <a:ln>
            <a:solidFill>
              <a:schemeClr val="lt1"/>
            </a:solidFill>
            <a:headEnd w="med" len="med"/>
            <a:tailEnd type="arrow" w="med" len="med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54" name="화살표 53"/>
          <p:cNvCxnSpPr/>
          <p:nvPr/>
        </p:nvCxnSpPr>
        <p:spPr>
          <a:xfrm>
            <a:off x="5139138" y="4199439"/>
            <a:ext cx="745841" cy="215274"/>
          </a:xfrm>
          <a:prstGeom prst="straightConnector1">
            <a:avLst/>
          </a:prstGeom>
          <a:ln>
            <a:solidFill>
              <a:schemeClr val="lt1"/>
            </a:solidFill>
            <a:headEnd w="med" len="med"/>
            <a:tailEnd type="arrow" w="med" len="med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56" name="가로 글상자 55"/>
          <p:cNvSpPr txBox="1"/>
          <p:nvPr/>
        </p:nvSpPr>
        <p:spPr>
          <a:xfrm>
            <a:off x="0" y="981708"/>
            <a:ext cx="4921439" cy="447929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sz="1200"/>
              <a:t>1. 상부 경계층 감속 및 박리 전조</a:t>
            </a:r>
            <a:endParaRPr sz="1200"/>
          </a:p>
          <a:p>
            <a:pPr lvl="0">
              <a:defRPr/>
            </a:pPr>
            <a:endParaRPr sz="1200"/>
          </a:p>
          <a:p>
            <a:pPr lvl="0">
              <a:defRPr/>
            </a:pPr>
            <a:r>
              <a:rPr sz="1200"/>
              <a:t>상부 표면에서 속도가 급격히 감소하며(파란색) 경계층이 두꺼워진다. 이는 불리한 압력구배로 인한 박리 직전 상태이다.</a:t>
            </a:r>
            <a:endParaRPr sz="1200"/>
          </a:p>
          <a:p>
            <a:pPr lvl="0">
              <a:defRPr/>
            </a:pPr>
            <a:endParaRPr sz="1200"/>
          </a:p>
          <a:p>
            <a:pPr lvl="0">
              <a:defRPr/>
            </a:pPr>
            <a:r>
              <a:rPr sz="1200"/>
              <a:t>2. 표면을 따라가지 못하는 유선 패턴</a:t>
            </a:r>
            <a:endParaRPr sz="1200"/>
          </a:p>
          <a:p>
            <a:pPr lvl="0">
              <a:defRPr/>
            </a:pPr>
            <a:endParaRPr sz="1200"/>
          </a:p>
          <a:p>
            <a:pPr lvl="0">
              <a:defRPr/>
            </a:pPr>
            <a:r>
              <a:rPr sz="1200"/>
              <a:t>유선이 표면에서 떨어져 위로 들리며 흐름이 부착되지 못한다. 이는 초기 separation의 전형적인 모습이다.</a:t>
            </a:r>
            <a:endParaRPr sz="1200"/>
          </a:p>
          <a:p>
            <a:pPr lvl="0">
              <a:defRPr/>
            </a:pPr>
            <a:endParaRPr sz="1200"/>
          </a:p>
          <a:p>
            <a:pPr lvl="0">
              <a:defRPr/>
            </a:pPr>
            <a:r>
              <a:rPr sz="1200"/>
              <a:t>3. 후연부 분리 버블 형성</a:t>
            </a:r>
            <a:endParaRPr sz="1200"/>
          </a:p>
          <a:p>
            <a:pPr lvl="0">
              <a:defRPr/>
            </a:pPr>
            <a:endParaRPr sz="1200"/>
          </a:p>
          <a:p>
            <a:pPr lvl="0">
              <a:defRPr/>
            </a:pPr>
            <a:r>
              <a:rPr sz="1200"/>
              <a:t>후연 근처에서 순환·역류 영역이 나타나며 trailing-edge separation bubble이 뚜렷하게 형성된다.</a:t>
            </a:r>
            <a:endParaRPr sz="1200"/>
          </a:p>
          <a:p>
            <a:pPr lvl="0">
              <a:defRPr/>
            </a:pPr>
            <a:endParaRPr sz="1200"/>
          </a:p>
          <a:p>
            <a:pPr lvl="0">
              <a:defRPr/>
            </a:pPr>
            <a:r>
              <a:rPr sz="1200"/>
              <a:t>4. 상·하부 속도 대비 뚜렷</a:t>
            </a:r>
            <a:endParaRPr sz="1200"/>
          </a:p>
          <a:p>
            <a:pPr lvl="0">
              <a:defRPr/>
            </a:pPr>
            <a:endParaRPr sz="1200"/>
          </a:p>
          <a:p>
            <a:pPr lvl="0">
              <a:defRPr/>
            </a:pPr>
            <a:r>
              <a:rPr sz="1200"/>
              <a:t>상부는 저속(파란색), 하부는 상대적으로 고속을 유지하여, 양력 손실이 상부 분리 유동에서 기인함을 보여준다.</a:t>
            </a:r>
            <a:endParaRPr sz="1200"/>
          </a:p>
          <a:p>
            <a:pPr lvl="0">
              <a:defRPr/>
            </a:pPr>
            <a:endParaRPr sz="1200"/>
          </a:p>
          <a:p>
            <a:pPr lvl="0">
              <a:defRPr/>
            </a:pPr>
            <a:r>
              <a:rPr sz="1200"/>
              <a:t>5. Cp 분포와 일관된 유동 구조</a:t>
            </a:r>
            <a:endParaRPr sz="1200"/>
          </a:p>
          <a:p>
            <a:pPr lvl="0">
              <a:defRPr/>
            </a:pPr>
            <a:endParaRPr sz="1200"/>
          </a:p>
          <a:p>
            <a:pPr lvl="0">
              <a:defRPr/>
            </a:pPr>
            <a:r>
              <a:rPr sz="1200"/>
              <a:t>상부 압력 회복 실패와 후연부 분리 패턴이 Cp 그래프와 동일하게 나타나며, 수치해석–실험 특성의 일관성을 확인할 수 있다.</a:t>
            </a:r>
            <a:endParaRPr sz="1200"/>
          </a:p>
        </p:txBody>
      </p:sp>
      <p:sp>
        <p:nvSpPr>
          <p:cNvPr id="57" name="가로 글상자 56"/>
          <p:cNvSpPr txBox="1"/>
          <p:nvPr/>
        </p:nvSpPr>
        <p:spPr>
          <a:xfrm>
            <a:off x="327120" y="315266"/>
            <a:ext cx="1616362" cy="42133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200"/>
              <a:t>해석결과</a:t>
            </a:r>
            <a:endParaRPr lang="ko-KR" altLang="en-US" sz="2200"/>
          </a:p>
        </p:txBody>
      </p:sp>
      <p:sp>
        <p:nvSpPr>
          <p:cNvPr id="58" name="가로 글상자 57"/>
          <p:cNvSpPr txBox="1"/>
          <p:nvPr/>
        </p:nvSpPr>
        <p:spPr>
          <a:xfrm>
            <a:off x="7179227" y="3295694"/>
            <a:ext cx="1786772" cy="266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/>
              <a:t>Fig.3</a:t>
            </a:r>
            <a:r>
              <a:rPr lang="ko-KR" altLang="en-US" sz="1200"/>
              <a:t> </a:t>
            </a:r>
            <a:r>
              <a:rPr lang="en-US" altLang="ko-KR" sz="1200"/>
              <a:t>result NACA4412</a:t>
            </a:r>
            <a:endParaRPr lang="en-US" altLang="ko-KR" sz="1200"/>
          </a:p>
        </p:txBody>
      </p:sp>
      <p:sp>
        <p:nvSpPr>
          <p:cNvPr id="59" name="가로 글상자 58"/>
          <p:cNvSpPr txBox="1"/>
          <p:nvPr/>
        </p:nvSpPr>
        <p:spPr>
          <a:xfrm>
            <a:off x="4863314" y="6412318"/>
            <a:ext cx="3816851" cy="4456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/>
              <a:t>Fig.4</a:t>
            </a:r>
            <a:r>
              <a:rPr lang="ko-KR" altLang="en-US" sz="1200"/>
              <a:t> </a:t>
            </a:r>
            <a:r>
              <a:rPr lang="en-US" altLang="ko-KR" sz="1200"/>
              <a:t>result NACA4412</a:t>
            </a:r>
            <a:endParaRPr lang="en-US" altLang="ko-KR" sz="1200"/>
          </a:p>
          <a:p>
            <a:pPr lvl="0">
              <a:defRPr/>
            </a:pPr>
            <a:r>
              <a:rPr lang="en-US" altLang="ko-KR" sz="1200"/>
              <a:t>Upper-surface flow separation indicated by arrows.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167991322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가로 글상자 23"/>
          <p:cNvSpPr txBox="1"/>
          <p:nvPr/>
        </p:nvSpPr>
        <p:spPr>
          <a:xfrm>
            <a:off x="7835696" y="4698523"/>
            <a:ext cx="1192938" cy="45259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200"/>
              <a:t>Fig.5 plot data</a:t>
            </a:r>
            <a:endParaRPr lang="en-US" altLang="ko-KR" sz="1200"/>
          </a:p>
          <a:p>
            <a:pPr lvl="0">
              <a:defRPr/>
            </a:pPr>
            <a:r>
              <a:rPr lang="en-US" altLang="ko-KR" sz="1200"/>
              <a:t>SU2 VS NACA  </a:t>
            </a:r>
            <a:endParaRPr lang="en-US" altLang="ko-KR" sz="120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29591" y="1980694"/>
            <a:ext cx="4014408" cy="2717829"/>
          </a:xfrm>
          <a:prstGeom prst="rect">
            <a:avLst/>
          </a:prstGeom>
        </p:spPr>
      </p:pic>
      <p:sp>
        <p:nvSpPr>
          <p:cNvPr id="35" name="가로 글상자 34"/>
          <p:cNvSpPr txBox="1"/>
          <p:nvPr/>
        </p:nvSpPr>
        <p:spPr>
          <a:xfrm>
            <a:off x="0" y="468513"/>
            <a:ext cx="4890668" cy="554351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b="1"/>
              <a:t>Pressure Coefficient(Cp) 비교 해석 (SU2 vs </a:t>
            </a:r>
            <a:r>
              <a:rPr lang="en-US" altLang="ko-KR" b="1"/>
              <a:t>NASA</a:t>
            </a:r>
            <a:r>
              <a:rPr b="1"/>
              <a:t>)</a:t>
            </a:r>
            <a:endParaRPr sz="2000" b="1"/>
          </a:p>
          <a:p>
            <a:pPr lvl="0">
              <a:defRPr/>
            </a:pPr>
            <a:endParaRPr/>
          </a:p>
          <a:p>
            <a:pPr lvl="0">
              <a:defRPr/>
            </a:pPr>
            <a:endParaRPr/>
          </a:p>
          <a:p>
            <a:pPr lvl="0">
              <a:defRPr/>
            </a:pPr>
            <a:endParaRPr/>
          </a:p>
          <a:p>
            <a:pPr lvl="0">
              <a:defRPr/>
            </a:pPr>
            <a:r>
              <a:rPr lang="en-US" altLang="ko-KR" sz="1100"/>
              <a:t>- </a:t>
            </a:r>
            <a:r>
              <a:rPr sz="1100"/>
              <a:t>앞전 흡입 피크 재현 정확도</a:t>
            </a:r>
            <a:endParaRPr sz="1100"/>
          </a:p>
          <a:p>
            <a:pPr lvl="0">
              <a:defRPr/>
            </a:pPr>
            <a:r>
              <a:rPr sz="1100"/>
              <a:t>SU2는 앞전에서 실험과 동일하게 약 −6~-7 수준의 강한 음압 피크를 예측하며, 고받음각 조건에서 형성되는 선행연 가속 유동을 정확히 재현한다. 이는 초기 압력구배와 경계층 거동이 실험과 잘 일치한다는 것을 의미한다.</a:t>
            </a:r>
            <a:endParaRPr sz="1100"/>
          </a:p>
          <a:p>
            <a:pPr lvl="0">
              <a:defRPr/>
            </a:pPr>
            <a:endParaRPr sz="1100"/>
          </a:p>
          <a:p>
            <a:pPr lvl="0">
              <a:defRPr/>
            </a:pPr>
            <a:r>
              <a:rPr lang="en-US" altLang="ko-KR" sz="1100"/>
              <a:t>- </a:t>
            </a:r>
            <a:r>
              <a:rPr sz="1100"/>
              <a:t>상부 면 압력 회복 구간의 일치</a:t>
            </a:r>
            <a:endParaRPr sz="1100"/>
          </a:p>
          <a:p>
            <a:pPr lvl="0">
              <a:defRPr/>
            </a:pPr>
            <a:r>
              <a:rPr sz="1100"/>
              <a:t>x/c ≈ 0.1~0.6 구간에서 SU2와 실험 모두 완만한 압력 회복 형태를 보인다. 이 구간은 경계층이 감속·두꺼워지는 영역으로, 후방 분리의 전조 현상이 나타나는 부분이다. 두 데이터는 전반적인 기울기와 Cp 변화 패턴이 거의 동일하다.</a:t>
            </a:r>
            <a:endParaRPr sz="1100"/>
          </a:p>
          <a:p>
            <a:pPr lvl="0">
              <a:defRPr/>
            </a:pPr>
            <a:endParaRPr sz="1100"/>
          </a:p>
          <a:p>
            <a:pPr lvl="0">
              <a:defRPr/>
            </a:pPr>
            <a:r>
              <a:rPr lang="en-US" altLang="ko-KR" sz="1100"/>
              <a:t>- </a:t>
            </a:r>
            <a:r>
              <a:rPr sz="1100"/>
              <a:t>후연부(trailing edge) 분리 특성 재현</a:t>
            </a:r>
            <a:endParaRPr sz="1100"/>
          </a:p>
          <a:p>
            <a:pPr lvl="0">
              <a:defRPr/>
            </a:pPr>
            <a:r>
              <a:rPr sz="1100"/>
              <a:t>x/c &gt; 0.8 이후 SU2와 실험 모두 상·하부 Cp 차이가 감소하며 상부 면에서 압력 회복이 제대로 일어나지 않는다. 이는 trailing-edge separation이 발생하고 있음을 나타내며, SU2가 실험에서 관찰되는 분리 현상을 잘 모사하고 있음을 보여준다.</a:t>
            </a:r>
            <a:endParaRPr sz="1100"/>
          </a:p>
          <a:p>
            <a:pPr lvl="0">
              <a:defRPr/>
            </a:pPr>
            <a:endParaRPr sz="1100"/>
          </a:p>
          <a:p>
            <a:pPr lvl="0">
              <a:defRPr/>
            </a:pPr>
            <a:r>
              <a:rPr lang="en-US" altLang="ko-KR" sz="1100"/>
              <a:t>- </a:t>
            </a:r>
            <a:r>
              <a:rPr sz="1100"/>
              <a:t>하부 면 압력 분포의 정상성</a:t>
            </a:r>
            <a:endParaRPr sz="1100"/>
          </a:p>
          <a:p>
            <a:pPr lvl="0">
              <a:defRPr/>
            </a:pPr>
            <a:r>
              <a:rPr sz="1100"/>
              <a:t>하부 면 Cp 분포는 실험과 거의 동일한 양의 압력 범위를 유지하며, 특별한 분리나 이상 현상이 나타나지 않는다. 이는 양력 손실이 주로 상부 분리 유동에서 기인함을 의미한다.</a:t>
            </a:r>
            <a:endParaRPr sz="1100"/>
          </a:p>
          <a:p>
            <a:pPr lvl="0">
              <a:defRPr/>
            </a:pPr>
            <a:endParaRPr sz="1100"/>
          </a:p>
          <a:p>
            <a:pPr lvl="0">
              <a:defRPr/>
            </a:pPr>
            <a:r>
              <a:rPr lang="en-US" altLang="ko-KR" sz="1100"/>
              <a:t>- </a:t>
            </a:r>
            <a:r>
              <a:rPr sz="1100"/>
              <a:t>종합 평가</a:t>
            </a:r>
            <a:endParaRPr sz="1100"/>
          </a:p>
          <a:p>
            <a:pPr lvl="0">
              <a:defRPr/>
            </a:pPr>
            <a:r>
              <a:rPr sz="1100"/>
              <a:t>SU2 해석 결과는 선행연 흡입 피크, 상부 면 압력 회복, 후연부 분리 등 핵심 유동 현상에서 실험과 높은 일치도를 보이며, NACA4412 고받음각 분리 유동을 충분히 신뢰할 만한 수준으로 재현한다.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6390936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>
        <a:defPPr lvl="0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477</ep:Words>
  <ep:PresentationFormat>화면 슬라이드 쇼(4:3)</ep:PresentationFormat>
  <ep:Paragraphs>79</ep:Paragraphs>
  <ep:Slides>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Office Theme</vt:lpstr>
      <vt:lpstr>슬라이드 1</vt:lpstr>
      <vt:lpstr>슬라이드 2</vt:lpstr>
      <vt:lpstr>슬라이드 3</vt:lpstr>
      <vt:lpstr>슬라이드 4</vt:lpstr>
      <vt:lpstr>슬라이드 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Cju</dc:creator>
  <dc:description>generated using python-pptx</dc:description>
  <cp:lastModifiedBy>PC</cp:lastModifiedBy>
  <dcterms:modified xsi:type="dcterms:W3CDTF">2025-12-04T15:55:09.478</dcterms:modified>
  <cp:revision>159</cp:revision>
  <dc:title>3D Wing CFD Simulation Report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